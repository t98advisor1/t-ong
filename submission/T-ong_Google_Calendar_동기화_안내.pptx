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a0898ab1254a0d" /><Relationship Type="http://schemas.openxmlformats.org/officeDocument/2006/relationships/extended-properties" Target="/docProps/app.xml" Id="R96af89dccd5c4bcf" /><Relationship Type="http://schemas.openxmlformats.org/officeDocument/2006/relationships/officeDocument" Target="/ppt/presentation.xml" Id="R2d09fc1caffa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48bc447a114a26"/>
  </p:sldMasterIdLst>
  <p:notesMasterIdLst>
    <p:notesMasterId xmlns:r="http://schemas.openxmlformats.org/officeDocument/2006/relationships" r:id="R3d3442acc4914f6c"/>
  </p:notesMasterIdLst>
  <p:sldIdLst>
    <p:sldId xmlns:r="http://schemas.openxmlformats.org/officeDocument/2006/relationships" id="256" r:id="R065c51b8bda647e6"/>
    <p:sldId xmlns:r="http://schemas.openxmlformats.org/officeDocument/2006/relationships" id="257" r:id="R0866d6116ff14190"/>
    <p:sldId xmlns:r="http://schemas.openxmlformats.org/officeDocument/2006/relationships" id="258" r:id="Rc2350cb49605498f"/>
    <p:sldId xmlns:r="http://schemas.openxmlformats.org/officeDocument/2006/relationships" id="259" r:id="R784736707ef944d0"/>
    <p:sldId xmlns:r="http://schemas.openxmlformats.org/officeDocument/2006/relationships" id="260" r:id="Ref703d27650d4a68"/>
    <p:sldId xmlns:r="http://schemas.openxmlformats.org/officeDocument/2006/relationships" id="261" r:id="R0320dd910e9d4a6c"/>
    <p:sldId xmlns:r="http://schemas.openxmlformats.org/officeDocument/2006/relationships" id="262" r:id="R9847378f2e9f4644"/>
    <p:sldId xmlns:r="http://schemas.openxmlformats.org/officeDocument/2006/relationships" id="263" r:id="Rb5131f969f92465c"/>
    <p:sldId xmlns:r="http://schemas.openxmlformats.org/officeDocument/2006/relationships" id="264" r:id="R0d4a243be0e74d6a"/>
    <p:sldId xmlns:r="http://schemas.openxmlformats.org/officeDocument/2006/relationships" id="265" r:id="Rd29eae4b434d49c3"/>
    <p:sldId xmlns:r="http://schemas.openxmlformats.org/officeDocument/2006/relationships" id="266" r:id="Rd33df222e4d44c9e"/>
    <p:sldId xmlns:r="http://schemas.openxmlformats.org/officeDocument/2006/relationships" id="267" r:id="Rcc33114515f342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3e4067ab0e4e7c" /><Relationship Type="http://schemas.openxmlformats.org/officeDocument/2006/relationships/slideMaster" Target="/ppt/slideMasters/slideMaster1.xml" Id="R3448bc447a114a26" /><Relationship Type="http://schemas.openxmlformats.org/officeDocument/2006/relationships/notesMaster" Target="/ppt/notesMasters/notesMaster1.xml" Id="R3d3442acc4914f6c" /><Relationship Type="http://schemas.openxmlformats.org/officeDocument/2006/relationships/presProps" Target="/ppt/presProps.xml" Id="R19df1b9fb5ff474a" /><Relationship Type="http://schemas.openxmlformats.org/officeDocument/2006/relationships/tableStyles" Target="/ppt/tableStyles.xml" Id="R9b865d348a764854" /><Relationship Type="http://schemas.openxmlformats.org/officeDocument/2006/relationships/slide" Target="/ppt/slides/slide1.xml" Id="R065c51b8bda647e6" /><Relationship Type="http://schemas.openxmlformats.org/officeDocument/2006/relationships/slide" Target="/ppt/slides/slide2.xml" Id="R0866d6116ff14190" /><Relationship Type="http://schemas.openxmlformats.org/officeDocument/2006/relationships/slide" Target="/ppt/slides/slide3.xml" Id="Rc2350cb49605498f" /><Relationship Type="http://schemas.openxmlformats.org/officeDocument/2006/relationships/slide" Target="/ppt/slides/slide4.xml" Id="R784736707ef944d0" /><Relationship Type="http://schemas.openxmlformats.org/officeDocument/2006/relationships/slide" Target="/ppt/slides/slide5.xml" Id="Ref703d27650d4a68" /><Relationship Type="http://schemas.openxmlformats.org/officeDocument/2006/relationships/slide" Target="/ppt/slides/slide6.xml" Id="R0320dd910e9d4a6c" /><Relationship Type="http://schemas.openxmlformats.org/officeDocument/2006/relationships/slide" Target="/ppt/slides/slide7.xml" Id="R9847378f2e9f4644" /><Relationship Type="http://schemas.openxmlformats.org/officeDocument/2006/relationships/slide" Target="/ppt/slides/slide8.xml" Id="Rb5131f969f92465c" /><Relationship Type="http://schemas.openxmlformats.org/officeDocument/2006/relationships/slide" Target="/ppt/slides/slide9.xml" Id="R0d4a243be0e74d6a" /><Relationship Type="http://schemas.openxmlformats.org/officeDocument/2006/relationships/slide" Target="/ppt/slides/slide10.xml" Id="Rd29eae4b434d49c3" /><Relationship Type="http://schemas.openxmlformats.org/officeDocument/2006/relationships/slide" Target="/ppt/slides/slide11.xml" Id="Rd33df222e4d44c9e" /><Relationship Type="http://schemas.openxmlformats.org/officeDocument/2006/relationships/slide" Target="/ppt/slides/slide12.xml" Id="Rcc33114515f342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cd592f2bd147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7fb9b7f76d48f0" /><Relationship Type="http://schemas.openxmlformats.org/officeDocument/2006/relationships/notesMaster" Target="/ppt/notesMasters/notesMaster1.xml" Id="Rd61bd05940f649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ef3585bc7454a" /><Relationship Type="http://schemas.openxmlformats.org/officeDocument/2006/relationships/notesMaster" Target="/ppt/notesMasters/notesMaster1.xml" Id="Rd29f8aab48304f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0527d010184a43" /><Relationship Type="http://schemas.openxmlformats.org/officeDocument/2006/relationships/notesMaster" Target="/ppt/notesMasters/notesMaster1.xml" Id="R928f8a54c4f942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c98c28e074415a" /><Relationship Type="http://schemas.openxmlformats.org/officeDocument/2006/relationships/notesMaster" Target="/ppt/notesMasters/notesMaster1.xml" Id="R810c116bf854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4da9810af24caf" /><Relationship Type="http://schemas.openxmlformats.org/officeDocument/2006/relationships/notesMaster" Target="/ppt/notesMasters/notesMaster1.xml" Id="R7bb20a48261649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0e82b2dd414217" /><Relationship Type="http://schemas.openxmlformats.org/officeDocument/2006/relationships/notesMaster" Target="/ppt/notesMasters/notesMaster1.xml" Id="R18fe32026fdc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fc7ad9db6640e2" /><Relationship Type="http://schemas.openxmlformats.org/officeDocument/2006/relationships/notesMaster" Target="/ppt/notesMasters/notesMaster1.xml" Id="Rc8e86c1f1d9e43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a59ff391a44b95" /><Relationship Type="http://schemas.openxmlformats.org/officeDocument/2006/relationships/notesMaster" Target="/ppt/notesMasters/notesMaster1.xml" Id="R38de8394c9ba47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7c2e0e0b1a4616" /><Relationship Type="http://schemas.openxmlformats.org/officeDocument/2006/relationships/notesMaster" Target="/ppt/notesMasters/notesMaster1.xml" Id="Rc6d35950cc3d4c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1d3586feed40c1" /><Relationship Type="http://schemas.openxmlformats.org/officeDocument/2006/relationships/notesMaster" Target="/ppt/notesMasters/notesMaster1.xml" Id="R230692cbed6b41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38467d40294ac3" /><Relationship Type="http://schemas.openxmlformats.org/officeDocument/2006/relationships/notesMaster" Target="/ppt/notesMasters/notesMaster1.xml" Id="R96a07d5f0b9f4b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b39b9c82374a7f" /><Relationship Type="http://schemas.openxmlformats.org/officeDocument/2006/relationships/notesMaster" Target="/ppt/notesMasters/notesMaster1.xml" Id="R442235907ad344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자료는 교직원이 직접 Google Cloud 설정을 완료하는 실습형 안내서입니다.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T-ong project screenshot: C:\Users\place\Documents\담임,교과교사용 자리추첨앱\tools\preview62-google-full-sync-panel-tablet.jpg</a:t>
            </a:r>
          </a:p>
          <a:p xmlns:a="http://schemas.openxmlformats.org/drawingml/2006/main">
            <a:r>
              <a:t>- T-ong project guide image: C:\Users\place\Documents\담임,교과교사용 자리추첨앱\guide\oauth-client-step-3.png</a:t>
            </a:r>
          </a:p>
          <a:p xmlns:a="http://schemas.openxmlformats.org/drawingml/2006/main">
            <a:r>
              <a:t>- https://t-ong.vercel.app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https://developers.google.com/workspace/calendar/api/v3/reference/events/list</a:t>
            </a:r>
          </a:p>
          <a:p xmlns:a="http://schemas.openxmlformats.org/drawingml/2006/main">
            <a:r>
              <a:t>- T-ong project screenshots: C:\Users\place\Documents\담임,교과교사용 자리추첨앱\guide\oauth-client-step-1.png, C:\Users\place\Documents\담임,교과교사용 자리추첨앱\guide\oauth-client-step-4.png, C:\Users\place\Documents\담임,교과교사용 자리추첨앱\tools\preview62-google-full-sync-panel-tablet.jpg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https://developers.google.com/identity/oauth2/web/guides/use-token-model</a:t>
            </a:r>
          </a:p>
          <a:p xmlns:a="http://schemas.openxmlformats.org/drawingml/2006/main">
            <a:r>
              <a:t>- https://developers.google.com/identity/protocols/oauth2/policies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https://developers.google.com/workspace/calendar/api/quickstart/js</a:t>
            </a:r>
          </a:p>
          <a:p xmlns:a="http://schemas.openxmlformats.org/drawingml/2006/main">
            <a:r>
              <a:t>- T-ong project guide image: C:\Users\place\Documents\담임,교과교사용 자리추첨앱\guide\oauth-client-step-1.png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Testing 상태의 비기본 권한 승인은 일정 기간 뒤 재승인이 필요할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https://developers.google.com/workspace/guides/configure-oauth-consent</a:t>
            </a:r>
          </a:p>
          <a:p xmlns:a="http://schemas.openxmlformats.org/drawingml/2006/main">
            <a:r>
              <a:t>- https://support.google.com/cloud/answer/15549945</a:t>
            </a:r>
          </a:p>
          <a:p xmlns:a="http://schemas.openxmlformats.org/drawingml/2006/main">
            <a:r>
              <a:t>- T-ong project guide image: C:\Users\place\Documents\담임,교과교사용 자리추첨앱\guide\oauth-client-step-2.png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https://developers.google.com/workspace/calendar/api/auth</a:t>
            </a:r>
          </a:p>
          <a:p xmlns:a="http://schemas.openxmlformats.org/drawingml/2006/main">
            <a:r>
              <a:t>- https://developers.google.com/workspace/guides/configure-oauth-consent</a:t>
            </a:r>
          </a:p>
          <a:p xmlns:a="http://schemas.openxmlformats.org/drawingml/2006/main">
            <a:r>
              <a:t>- User-provided screenshot, redaction checked: C:\Users\place\Documents\담임,교과교사용 자리추첨앱\tmp\google-sync-slide-build\data-access-scopes.png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https://developers.google.com/identity/gsi/web/guides/get-google-api-clientid</a:t>
            </a:r>
          </a:p>
          <a:p xmlns:a="http://schemas.openxmlformats.org/drawingml/2006/main">
            <a:r>
              <a:t>- https://developers.google.com/identity/protocols/oauth2/javascript-implicit-flow</a:t>
            </a:r>
          </a:p>
          <a:p xmlns:a="http://schemas.openxmlformats.org/drawingml/2006/main">
            <a:r>
              <a:t>- T-ong project guide image: C:\Users\place\Documents\담임,교과교사용 자리추첨앱\guide\oauth-client-step-3.png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https://developers.google.com/workspace/calendar/api/quickstart/js</a:t>
            </a:r>
          </a:p>
          <a:p xmlns:a="http://schemas.openxmlformats.org/drawingml/2006/main">
            <a:r>
              <a:t>- T-ong project guide image: C:\Users\place\Documents\담임,교과교사용 자리추첨앱\guide\oauth-client-step-4.png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액세스 토큰은 짧은 수명이므로 새 기기나 만료 뒤에는 Google 동기화를 다시 눌러야 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https://developers.google.com/identity/oauth2/web/guides/use-token-model</a:t>
            </a:r>
          </a:p>
          <a:p xmlns:a="http://schemas.openxmlformats.org/drawingml/2006/main">
            <a:r>
              <a:t>- T-ong project screenshot: C:\Users\place\Documents\담임,교과교사용 자리추첨앱\tools\preview62-google-full-sync-tablet.png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https://developers.google.com/workspace/calendar/api/v3/reference/events/list</a:t>
            </a:r>
          </a:p>
          <a:p xmlns:a="http://schemas.openxmlformats.org/drawingml/2006/main">
            <a:r>
              <a:t>- https://t-ong.vercel.app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다시 가져오기는 Google 기본 캘린더를 전체 재조회하면서 현재 양방향 동기화도 수행합니다.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https://developers.google.com/workspace/calendar/api/v3/reference/events/list</a:t>
            </a:r>
          </a:p>
          <a:p xmlns:a="http://schemas.openxmlformats.org/drawingml/2006/main">
            <a:r>
              <a:t>- https://developers.google.com/workspace/calendar/api/guides/sync</a:t>
            </a:r>
          </a:p>
          <a:p xmlns:a="http://schemas.openxmlformats.org/drawingml/2006/main">
            <a:r>
              <a:t>- T-ong project screenshot: C:\Users\place\Documents\담임,교과교사용 자리추첨앱\tools\preview62-google-full-sync-panel-tablet.jpg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https://developers.google.com/identity/oauth2/web/guides/error</a:t>
            </a:r>
          </a:p>
          <a:p xmlns:a="http://schemas.openxmlformats.org/drawingml/2006/main">
            <a:r>
              <a:t>- https://developers.google.com/identity/protocols/oauth2/javascript-implicit-flow</a:t>
            </a:r>
          </a:p>
          <a:p xmlns:a="http://schemas.openxmlformats.org/drawingml/2006/main">
            <a:r>
              <a:t>- https://support.google.com/cloud/answer/15549945</a:t>
            </a:r>
          </a:p>
          <a:p xmlns:a="http://schemas.openxmlformats.org/drawingml/2006/main">
            <a:r>
              <a:t>- https://t-ong.vercel.app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f89ff8a0246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817d7abff84ce1" /><Relationship Type="http://schemas.openxmlformats.org/officeDocument/2006/relationships/slideLayout" Target="/ppt/slideLayouts/slideLayout1.xml" Id="Rdaf1d409364447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f1d409364447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0167362b940b3" /><Relationship Type="http://schemas.openxmlformats.org/officeDocument/2006/relationships/image" Target="/ppt/media/image.jpeg" Id="Rcf6b4a66128f4512" /><Relationship Type="http://schemas.openxmlformats.org/officeDocument/2006/relationships/image" Target="/ppt/media/image.png" Id="R98b25ccb17ab42fa" /><Relationship Type="http://schemas.openxmlformats.org/officeDocument/2006/relationships/notesSlide" Target="/ppt/notesSlides/notesSlide1.xml" Id="R7460d27f0e6e49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edaf03e454e58" /><Relationship Type="http://schemas.openxmlformats.org/officeDocument/2006/relationships/image" Target="/ppt/media/image2.png" Id="R00893b6ab8244a13" /><Relationship Type="http://schemas.openxmlformats.org/officeDocument/2006/relationships/image" Target="/ppt/media/image3.png" Id="R049b427210e74f69" /><Relationship Type="http://schemas.openxmlformats.org/officeDocument/2006/relationships/image" Target="/ppt/media/image2.jpeg" Id="Rc873d97bb75f4bd8" /><Relationship Type="http://schemas.openxmlformats.org/officeDocument/2006/relationships/notesSlide" Target="/ppt/notesSlides/notesSlide2.xml" Id="Rb60c466c826a4c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bbc50596d4633" /><Relationship Type="http://schemas.openxmlformats.org/officeDocument/2006/relationships/notesSlide" Target="/ppt/notesSlides/notesSlide3.xml" Id="Rbf3161c1d4144d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97109be474999" /><Relationship Type="http://schemas.openxmlformats.org/officeDocument/2006/relationships/image" Target="/ppt/media/image4.png" Id="R429e63793f214324" /><Relationship Type="http://schemas.openxmlformats.org/officeDocument/2006/relationships/notesSlide" Target="/ppt/notesSlides/notesSlide4.xml" Id="R95fb3e2535a24e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11464d20d44eb" /><Relationship Type="http://schemas.openxmlformats.org/officeDocument/2006/relationships/image" Target="/ppt/media/image5.png" Id="Rb94fad0dea364d41" /><Relationship Type="http://schemas.openxmlformats.org/officeDocument/2006/relationships/notesSlide" Target="/ppt/notesSlides/notesSlide5.xml" Id="Rdf5d9840fbee44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0ef6bbffb49e5" /><Relationship Type="http://schemas.openxmlformats.org/officeDocument/2006/relationships/image" Target="/ppt/media/image6.png" Id="R4a3b7bfe13f7482f" /><Relationship Type="http://schemas.openxmlformats.org/officeDocument/2006/relationships/notesSlide" Target="/ppt/notesSlides/notesSlide6.xml" Id="Ra0403bbcfe184d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8a35929c143ca" /><Relationship Type="http://schemas.openxmlformats.org/officeDocument/2006/relationships/image" Target="/ppt/media/image7.png" Id="Re40891e7470741f7" /><Relationship Type="http://schemas.openxmlformats.org/officeDocument/2006/relationships/notesSlide" Target="/ppt/notesSlides/notesSlide7.xml" Id="R618ad9d77d0c4d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a1c3ee10c4b35" /><Relationship Type="http://schemas.openxmlformats.org/officeDocument/2006/relationships/image" Target="/ppt/media/image8.png" Id="R2f15d5fd430f415b" /><Relationship Type="http://schemas.openxmlformats.org/officeDocument/2006/relationships/notesSlide" Target="/ppt/notesSlides/notesSlide8.xml" Id="R3ee78b3a31d545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db31016bb4346" /><Relationship Type="http://schemas.openxmlformats.org/officeDocument/2006/relationships/image" Target="/ppt/media/image9.png" Id="R0b070aaa9fc04b79" /><Relationship Type="http://schemas.openxmlformats.org/officeDocument/2006/relationships/notesSlide" Target="/ppt/notesSlides/notesSlide9.xml" Id="Rc213c1cf3f4a42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a818b13c49fa" /><Relationship Type="http://schemas.openxmlformats.org/officeDocument/2006/relationships/notesSlide" Target="/ppt/notesSlides/notesSlide10.xml" Id="R49791f130b554f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eb6fa899d4e02" /><Relationship Type="http://schemas.openxmlformats.org/officeDocument/2006/relationships/image" Target="/ppt/media/image3.jpeg" Id="Redbb44d563364dbf" /><Relationship Type="http://schemas.openxmlformats.org/officeDocument/2006/relationships/notesSlide" Target="/ppt/notesSlides/notesSlide11.xml" Id="Rdd712b4e8d8b43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81d789edd4250" /><Relationship Type="http://schemas.openxmlformats.org/officeDocument/2006/relationships/notesSlide" Target="/ppt/notesSlides/notesSlide12.xml" Id="Rcce9c34259354b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DF848-3802-4E81-B562-53D3120D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FBC35-A216-40A8-93DE-797957E1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543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0">
            <a:solidFill>
              <a:srgbClr val="E8F5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B2AAD-49C8-4B49-B264-35B81E3F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T-ong 사용 안내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33366-30C1-41C5-A236-94A30552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73248"/>
                </a:solidFill>
              </a:defRPr>
            </a:pPr>
            <a:r>
              <a:rPr sz="3900" b="1" i="0">
                <a:solidFill>
                  <a:srgbClr val="273248"/>
                </a:solidFill>
              </a:rPr>
              <a:t>T-ong ×</a:t>
            </a:r>
          </a:p>
          <a:p xmlns:a="http://schemas.openxmlformats.org/drawingml/2006/main">
            <a:pPr algn="l">
              <a:defRPr sz="3900" b="1" i="0">
                <a:solidFill>
                  <a:srgbClr val="273248"/>
                </a:solidFill>
              </a:defRPr>
            </a:pPr>
            <a:r>
              <a:rPr sz="3900" b="1" i="0">
                <a:solidFill>
                  <a:srgbClr val="273248"/>
                </a:solidFill>
              </a:rPr>
              <a:t>Google Calendar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23995-A76B-4D23-A950-6875E11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D6CDF"/>
                </a:solidFill>
              </a:defRPr>
            </a:pPr>
            <a:r>
              <a:rPr sz="3000" b="1" i="0">
                <a:solidFill>
                  <a:srgbClr val="2D6CDF"/>
                </a:solidFill>
              </a:rPr>
              <a:t>양방향 동기화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E7520-CB4F-4A99-A6BE-FBC53E03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9738A"/>
                </a:solidFill>
              </a:defRPr>
            </a:pPr>
            <a:r>
              <a:rPr sz="1650" b="0" i="0">
                <a:solidFill>
                  <a:srgbClr val="69738A"/>
                </a:solidFill>
              </a:rPr>
              <a:t>처음 설정부터 누락 일정 복구까지</a:t>
            </a:r>
          </a:p>
          <a:p xmlns:a="http://schemas.openxmlformats.org/drawingml/2006/main">
            <a:pPr algn="l">
              <a:defRPr sz="1650" b="0" i="0">
                <a:solidFill>
                  <a:srgbClr val="69738A"/>
                </a:solidFill>
              </a:defRPr>
            </a:pPr>
            <a:r>
              <a:rPr sz="1650" b="0" i="0">
                <a:solidFill>
                  <a:srgbClr val="69738A"/>
                </a:solidFill>
              </a:rPr>
              <a:t>교사가 그대로 따라 하는 10분 가이드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DC401-7627-4255-9634-62351FEB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038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2AE84-5D37-4243-885A-5B97AD25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9653A"/>
                </a:solidFill>
              </a:defRPr>
            </a:pPr>
            <a:r>
              <a:rPr sz="1125" b="1" i="0">
                <a:solidFill>
                  <a:srgbClr val="59653A"/>
                </a:solidFill>
              </a:rPr>
              <a:t>핵심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45DDA-8865-4478-9472-FAA82645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3248"/>
                </a:solidFill>
              </a:defRPr>
            </a:pPr>
            <a:r>
              <a:rPr sz="1575" b="1" i="0">
                <a:solidFill>
                  <a:srgbClr val="273248"/>
                </a:solidFill>
              </a:rPr>
              <a:t>T-ong 일정 ⇄ Google 기본 캘린더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C1C0D-58BB-4053-A6EC-93FA0943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66800"/>
            <a:ext cx="54864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b4a66128f4512"/>
          <a:stretch xmlns:a="http://schemas.openxmlformats.org/drawingml/2006/main"/>
        </p:blipFill>
        <p:spPr>
          <a:xfrm xmlns:a="http://schemas.openxmlformats.org/drawingml/2006/main">
            <a:off x="5914017" y="1143000"/>
            <a:ext cx="5316966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A5E67-5B72-4111-A0A7-0FA6512A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7244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25ccb17ab42fa"/>
          <a:stretch xmlns:a="http://schemas.openxmlformats.org/drawingml/2006/main"/>
        </p:blipFill>
        <p:spPr>
          <a:xfrm xmlns:a="http://schemas.openxmlformats.org/drawingml/2006/main">
            <a:off x="6553200" y="3621405"/>
            <a:ext cx="4572000" cy="2834640"/>
          </a:xfrm>
          <a:prstGeom xmlns:a="http://schemas.openxmlformats.org/drawingml/2006/main" prst="roundRect">
            <a:avLst>
              <a:gd name="adj" fmla="val 40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F0EB4-A2FD-4524-BE50-1CE106F6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057900"/>
            <a:ext cx="3409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0">
            <a:solidFill>
              <a:srgbClr val="FFF4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AFF31-0646-47DF-B67E-B10EE918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11505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안전한 예시 화면 · 키와 토큰 미포함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E4340-8F5D-4958-96AF-D0D9EF6E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C0B7B-E61C-4E9F-AE9A-D1A8AC26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1405945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1C6ED-8580-4F7C-85AF-F6E3DD87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C52F3-439D-409D-8585-9541AABD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전체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59DA8-49C0-4518-9DD8-C7F6AC23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한 번 설정하고, 이후에는 버튼 한 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DA587-7A72-4BA4-8746-51F4C119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Google Cloud 준비 → T-ong 연결 → 양방향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FA908-FA2E-4F7A-8257-72E8E2CE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AFAD1-10CD-4940-BA88-45B0C026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6CACC-DA9F-4D24-B04D-68485BF6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48000" cy="37909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8B409-52E8-471C-9FD5-D13A4E1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E5A37-37E3-40C8-BD7D-224A0330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03FCA-D711-45D0-A491-B61E37A2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28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73248"/>
                </a:solidFill>
              </a:defRPr>
            </a:pPr>
            <a:r>
              <a:rPr sz="1650" b="1" i="0">
                <a:solidFill>
                  <a:srgbClr val="273248"/>
                </a:solidFill>
              </a:rPr>
              <a:t>Google Cloud 준비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93b6ab8244a13"/>
          <a:srcRect xmlns:a="http://schemas.openxmlformats.org/drawingml/2006/main" l="256" t="0" r="2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724150"/>
            <a:ext cx="2628900" cy="1638300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E2AF8-DB7E-432B-90F6-5619FB81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9738A"/>
                </a:solidFill>
              </a:defRPr>
            </a:pPr>
            <a:r>
              <a:rPr sz="1275" b="0" i="0">
                <a:solidFill>
                  <a:srgbClr val="69738A"/>
                </a:solidFill>
              </a:rPr>
              <a:t>Calendar API와 OAuth 웹 클라이언트를 처음 한 번 설정합니다.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0F3BD-6252-4DE6-A068-CF7B1197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3048000" cy="37909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85FCE-7F6D-4694-80E2-A2A3036B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03417-BC51-4314-8820-F2E665AC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3D5C7-93C4-4A18-A5D7-CDC1F0E6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73248"/>
                </a:solidFill>
              </a:defRPr>
            </a:pPr>
            <a:r>
              <a:rPr sz="1650" b="1" i="0">
                <a:solidFill>
                  <a:srgbClr val="273248"/>
                </a:solidFill>
              </a:rPr>
              <a:t>T-ong 연결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b427210e74f69"/>
          <a:srcRect xmlns:a="http://schemas.openxmlformats.org/drawingml/2006/main" l="256" t="0" r="2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2724150"/>
            <a:ext cx="2628900" cy="1638300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E675C-2372-4A3C-A381-0048824F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9738A"/>
                </a:solidFill>
              </a:defRPr>
            </a:pPr>
            <a:r>
              <a:rPr sz="1275" b="0" i="0">
                <a:solidFill>
                  <a:srgbClr val="69738A"/>
                </a:solidFill>
              </a:rPr>
              <a:t>클라이언트 ID를 저장하고 사용할 Google 계정을 승인합니다.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5715B-2605-46CB-BB53-E4DFAFA8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00250"/>
            <a:ext cx="3048000" cy="37909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4DE58-0F2C-40CE-9393-F000A336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D68"/>
          </a:solidFill>
          <a:ln xmlns:a="http://schemas.openxmlformats.org/drawingml/2006/main" w="0">
            <a:solidFill>
              <a:srgbClr val="2F9D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3107B-F714-45EC-97F9-AAF74AA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8335C-2001-4A6F-A576-8100B123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73248"/>
                </a:solidFill>
              </a:defRPr>
            </a:pPr>
            <a:r>
              <a:rPr sz="1650" b="1" i="0">
                <a:solidFill>
                  <a:srgbClr val="273248"/>
                </a:solidFill>
              </a:rPr>
              <a:t>일상 동기화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3d97bb75f4bd8"/>
          <a:srcRect xmlns:a="http://schemas.openxmlformats.org/drawingml/2006/main" l="19241" t="0" r="19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2724150"/>
            <a:ext cx="2628900" cy="1638300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5A36B-1A92-4B92-8D03-987741A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29150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9738A"/>
                </a:solidFill>
              </a:defRPr>
            </a:pPr>
            <a:r>
              <a:rPr sz="1275" b="0" i="0">
                <a:solidFill>
                  <a:srgbClr val="69738A"/>
                </a:solidFill>
              </a:rPr>
              <a:t>‘Google 동기화’로 두 캘린더의 변경 내용을 함께 확인합니다.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E9E3C1-CFA9-4626-A67B-3D6639E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7662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7E8B53"/>
                </a:solidFill>
              </a:defRPr>
            </a:pPr>
            <a:r>
              <a:rPr sz="2400" b="1" i="0">
                <a:solidFill>
                  <a:srgbClr val="7E8B53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C4820-0CEB-4BF7-AC88-4A0654F0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7E8B53"/>
                </a:solidFill>
              </a:defRPr>
            </a:pPr>
            <a:r>
              <a:rPr sz="2400" b="1" i="0">
                <a:solidFill>
                  <a:srgbClr val="7E8B53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74928-B2B9-40BD-90FF-CF85B9E8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867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4097B-9E40-44ED-B17B-0E8F9A8E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67425"/>
            <a:ext cx="948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CDF"/>
                </a:solidFill>
              </a:defRPr>
            </a:pPr>
            <a:r>
              <a:rPr sz="1200" b="1" i="0">
                <a:solidFill>
                  <a:srgbClr val="2D6CDF"/>
                </a:solidFill>
              </a:rPr>
              <a:t>양방향 = T-ong에서 만든 일정은 Google로, Google 기본 캘린더에서 만든 일정은 T-ong으로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045574-31E4-4CCC-9B8C-0805175A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39F7D1-A90E-4D35-B390-B42EDB4F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88076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FE973D-77A0-499E-A180-CEF37D9B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E77D0-8D75-438A-AA04-DFB34DE2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시작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5A4A3-65A8-4D7A-936E-9022FFC2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먼저 확인하면 설정이 훨씬 빨라집니다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5FAA4-9842-4F26-87F5-F554C5E7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같은 계정·정확한 주소·안전한 화면 공유가 핵심입니다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9338E-CD94-49D1-AE03-30B02C4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81E3B-B2F0-47BC-9B89-3E492FA7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9C1FC-68F8-4AA7-97EC-139B2776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769D3-CE4B-4D03-B90E-84E27D70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56351-2FB6-4C0C-825D-FD84E7D7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같은 Google 계정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DF0AF-3EAE-4D55-A6BB-C0336245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Cloud 프로젝트·Google Calendar·권한 승인에 같은 계정을 사용합니다.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694BE-22A4-4DC7-8F09-BE8EA702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45CBD-8B1F-4732-BAA2-D5845B0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48D6D-F598-4A90-973A-1E9367C7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운영 주소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D0A3E-7786-4BDA-9570-9396665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3372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반드시 https://t-ong.vercel.app 에서 연결합니다.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A45CA-7D69-4E77-BC55-01C0662C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4BA2D-12AC-4B14-9839-5D535AB1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13C34-5227-4FED-8CF1-356474D7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팝업 허용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222D8-C8A8-4E43-9835-07B14DB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Chrome 등 일반 브라우저에서 Google 로그인 팝업을 허용합니다.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714C2-596A-419B-B8A9-361E7CE2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4C3D3-F9FA-4E8F-9312-2CE0849B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DC636-FA1E-46D5-851A-8122F4A1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브라우저별 재승인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E719F-4E82-4D9D-A696-0753E797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새 기기·토큰 만료·탭 재실행 뒤에는 다시 연결할 수 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F9E65-4392-475F-A613-E3B73502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9DF9C7-502D-4236-B561-EB7D02FD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0E38F-F95C-42D9-B20B-690067CC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더미 일정으로 시험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08599B-5A36-48D1-B2B7-2C87F2DF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4832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학생 이름이나 상담 내용이 없는 [테스트] 일정 2건으로 확인합니다.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FC8F32-5BDC-4C4C-8F40-7C35D823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36245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273248"/>
          </a:solidFill>
          <a:ln xmlns:a="http://schemas.openxmlformats.org/drawingml/2006/main" w="0">
            <a:solidFill>
              <a:srgbClr val="2732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1277C-A32E-4A16-B8C7-B1C64E46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화면 캡처 보안 경계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E0503-1C0D-4227-9EF5-FE8B4A24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E3BF"/>
                </a:solidFill>
              </a:defRPr>
            </a:pPr>
            <a:r>
              <a:rPr sz="1275" b="1" i="0">
                <a:solidFill>
                  <a:srgbClr val="A7E3BF"/>
                </a:solidFill>
              </a:rPr>
              <a:t>보여도 되는 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D56274-F8DD-484A-A653-63E9A5EF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페이지 제목과 왼쪽 메뉴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권한 범위 이름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승인된 원본 주소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DAD0EF-38CC-4CB6-90DE-458A59A3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79"/>
          </a:solidFill>
          <a:ln xmlns:a="http://schemas.openxmlformats.org/drawingml/2006/main" w="0">
            <a:solidFill>
              <a:srgbClr val="5A667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1F4B4D-4552-43D7-B6F8-A59E422B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386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B5B0"/>
                </a:solidFill>
              </a:defRPr>
            </a:pPr>
            <a:r>
              <a:rPr sz="1275" b="1" i="0">
                <a:solidFill>
                  <a:srgbClr val="FFB5B0"/>
                </a:solidFill>
              </a:rPr>
              <a:t>캡처하지 않는 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5B81F-7AFA-4A7B-B5DF-709ADE6D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434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Client Secret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API Key · Access Token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계정 이메일과 실제 일정 제목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987E92-6CF8-47E7-B0E3-F39B6234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905500"/>
            <a:ext cx="3943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0">
            <a:solidFill>
              <a:srgbClr val="FFF4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6676CC-598F-4CD4-891E-6285A05A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6265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클라이언트 ID는 식별값이지만 제출본에서는 가림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C2F65E-AF30-43B2-80CC-58D628E9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0FF557-327E-4703-B101-A6D69AEF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180575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05596-B926-451C-9732-7A93E14D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E0C52-073B-4862-A57D-525D3117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Google Cloud 설정 1/5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AAE3C-BA7B-47FD-81A7-20A9D03B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Google Calendar API를 활성화합니다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1F2BA-3EA8-4A6C-9B0F-FB3DD0C9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올바른 프로젝트를 선택한 뒤 API 라이브러리에서 ‘Google Calendar API’를 찾습니다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40826-128F-4732-9AB4-FFCD6C4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66211-DB35-4CD6-9187-E5F4C99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8317E-B18B-4053-888D-972EC822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86650" cy="4695825"/>
          </a:xfrm>
          <a:prstGeom xmlns:a="http://schemas.openxmlformats.org/drawingml/2006/main" prst="roundRect">
            <a:avLst>
              <a:gd name="adj" fmla="val 3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e63793f214324"/>
          <a:stretch xmlns:a="http://schemas.openxmlformats.org/drawingml/2006/main"/>
        </p:blipFill>
        <p:spPr>
          <a:xfrm xmlns:a="http://schemas.openxmlformats.org/drawingml/2006/main">
            <a:off x="688873" y="1962150"/>
            <a:ext cx="7328105" cy="4543425"/>
          </a:xfrm>
          <a:prstGeom xmlns:a="http://schemas.openxmlformats.org/drawingml/2006/main" prst="roundRect">
            <a:avLst>
              <a:gd name="adj" fmla="val 251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9EA0F-CE00-4C8B-9C86-FF6826B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6C480-ED81-4AEE-9657-2FC9FFE6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1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FAC2A-168B-4FBE-B885-E5934120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프로젝트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C8E98-7C18-4D40-8BFB-31E611D7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상단 프로젝트 선택기가 T-ong용 프로젝트인지 확인합니다.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68DB6-4BC0-42E9-9FD9-89D7C432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BDF01-984F-42E4-B74F-963A90F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B6A7C-B3C5-401A-91D3-E8966262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API 검색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5D137-5F8A-4E24-B489-A691B00A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23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API 및 서비스 › 라이브러리에서 Google Calendar API를 검색합니다.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3B49F-C7E7-47A5-A17A-DACCD46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D68"/>
          </a:solidFill>
          <a:ln xmlns:a="http://schemas.openxmlformats.org/drawingml/2006/main" w="0">
            <a:solidFill>
              <a:srgbClr val="2F9D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12CA7-48FE-4526-A78E-C4C653E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86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93FE9-3E88-436C-8645-2E67F49A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386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‘사용’ 클릭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40C3F-C1DA-45F3-9AE0-B65DA502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25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버튼이 ‘관리’로 보이면 이미 활성화된 상태입니다.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8C8A4-A1E3-4F44-A993-632A370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8165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9525">
            <a:solidFill>
              <a:srgbClr val="F2B6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FB86C-B244-4781-B5A1-3F69D578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3405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9653A"/>
                </a:solidFill>
              </a:defRPr>
            </a:pPr>
            <a:r>
              <a:rPr sz="1125" b="1" i="0">
                <a:solidFill>
                  <a:srgbClr val="59653A"/>
                </a:solidFill>
              </a:rPr>
              <a:t>다른 프로젝트에서 활성화하면</a:t>
            </a:r>
          </a:p>
          <a:p xmlns:a="http://schemas.openxmlformats.org/drawingml/2006/main">
            <a:pPr algn="ctr">
              <a:defRPr sz="1125" b="1" i="0">
                <a:solidFill>
                  <a:srgbClr val="59653A"/>
                </a:solidFill>
              </a:defRPr>
            </a:pPr>
            <a:r>
              <a:rPr sz="1125" b="1" i="0">
                <a:solidFill>
                  <a:srgbClr val="59653A"/>
                </a:solidFill>
              </a:rPr>
              <a:t>T-ong OAuth 설정과 연결되지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C2B6B-D498-49C2-976C-034B1194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D7E57-85EF-4214-81AC-824E652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1618497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5C261-2AD0-40A0-9D4D-E955C28C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6C680-9B65-41A0-A307-717ED530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Google Cloud 설정 2/5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66C76-B19C-4810-A4F9-60A0F7C8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브랜딩과 대상 사용자를 설정합니다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26D6F-81C9-4633-92C4-A0AFD10C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일반 Gmail 계정이라면 보통 External(외부) + Testing에서 시작합니다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A9A7A-32F6-4CA8-961C-F2D4486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93A06-3E61-4514-AF7F-CCEA7821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90A8A-2A07-49A2-BC6D-B3DD1FD5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4543425"/>
          </a:xfrm>
          <a:prstGeom xmlns:a="http://schemas.openxmlformats.org/drawingml/2006/main" prst="roundRect">
            <a:avLst>
              <a:gd name="adj" fmla="val 33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fad0dea364d41"/>
          <a:stretch xmlns:a="http://schemas.openxmlformats.org/drawingml/2006/main"/>
        </p:blipFill>
        <p:spPr>
          <a:xfrm xmlns:a="http://schemas.openxmlformats.org/drawingml/2006/main">
            <a:off x="687951" y="2000250"/>
            <a:ext cx="7082298" cy="4391025"/>
          </a:xfrm>
          <a:prstGeom xmlns:a="http://schemas.openxmlformats.org/drawingml/2006/main" prst="roundRect">
            <a:avLst>
              <a:gd name="adj" fmla="val 260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3730B-1D29-4DC7-B18E-69B1C170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19300"/>
            <a:ext cx="31432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802A3-EB57-4B4F-9DA2-705A30CA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73248"/>
                </a:solidFill>
              </a:defRPr>
            </a:pPr>
            <a:r>
              <a:rPr sz="1800" b="1" i="0">
                <a:solidFill>
                  <a:srgbClr val="273248"/>
                </a:solidFill>
              </a:rPr>
              <a:t>브랜딩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C83A6-43F7-4ADC-86FF-6C71E3D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앱 이름</a:t>
            </a:r>
          </a:p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사용자 지원 이메일</a:t>
            </a:r>
          </a:p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개발자 연락처 이메일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18FD5-6761-435C-8F85-34514172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D6C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35ECC-B7D1-4B21-9955-EA8C75D3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24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D6CDF"/>
                </a:solidFill>
              </a:defRPr>
            </a:pPr>
            <a:r>
              <a:rPr sz="1650" b="1" i="0">
                <a:solidFill>
                  <a:srgbClr val="2D6CDF"/>
                </a:solidFill>
              </a:rPr>
              <a:t>External /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67998-4313-4CE9-9F87-85258416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3248"/>
                </a:solidFill>
              </a:defRPr>
            </a:pPr>
            <a:r>
              <a:rPr sz="1275" b="0" i="0">
                <a:solidFill>
                  <a:srgbClr val="273248"/>
                </a:solidFill>
              </a:rPr>
              <a:t>‘대상’의 테스트 사용자에 실제 연결할 Google 계정을 추가합니다.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877DE-4730-4FEF-AB3D-EE7D2B92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90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9738A"/>
                </a:solidFill>
              </a:defRPr>
            </a:pPr>
            <a:r>
              <a:rPr sz="1050" b="0" i="0">
                <a:solidFill>
                  <a:srgbClr val="69738A"/>
                </a:solidFill>
              </a:rPr>
              <a:t>※ 학교 Workspace의 Internal 사용 가능 여부는 관리자 정책에 따릅니다.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2B8E6-2E70-4B23-9849-E692641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480EC-4360-4564-87DE-D7999CAF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807735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D3137-57C0-488C-8ACE-D27998D1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B2263-C0E9-413A-A2F4-E8E9EA9D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Google Cloud 설정 3/5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B5D2E-C621-4E13-835F-00A25E6D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캘린더 읽기·쓰기 권한 범위를 추가합니다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96226-F7B4-45AA-9419-58440E7F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데이터 액세스에서 T-ong이 실제 사용하는 하나의 Calendar 범위를 선택합니다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B8964-187C-4AF1-AB56-4C7B922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A40C9-F479-49E6-A6DB-6F9075A1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11A4C-51EB-4BE0-960D-F10E1639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486650" cy="45339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b7bfe13f7482f"/>
          <a:stretch xmlns:a="http://schemas.openxmlformats.org/drawingml/2006/main"/>
        </p:blipFill>
        <p:spPr>
          <a:xfrm xmlns:a="http://schemas.openxmlformats.org/drawingml/2006/main">
            <a:off x="1765478" y="1981200"/>
            <a:ext cx="517489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1A2BF-7741-4C79-A125-F772D162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2971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D6C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2BC14-4543-46B5-B825-89622213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05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6CDF"/>
                </a:solidFill>
              </a:defRPr>
            </a:pPr>
            <a:r>
              <a:rPr sz="1575" b="1" i="0">
                <a:solidFill>
                  <a:srgbClr val="2D6CDF"/>
                </a:solidFill>
              </a:rPr>
              <a:t>정확한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A5CA4-7F0C-46BC-8B08-894928A6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3248"/>
                </a:solidFill>
              </a:defRPr>
            </a:pPr>
            <a:r>
              <a:rPr sz="1350" b="1" i="0">
                <a:solidFill>
                  <a:srgbClr val="273248"/>
                </a:solidFill>
              </a:rPr>
              <a:t>calendar.events.owned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9C753-25F1-4237-AB84-3B51EAD1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9738A"/>
                </a:solidFill>
              </a:defRPr>
            </a:pPr>
            <a:r>
              <a:rPr sz="900" b="0" i="0">
                <a:solidFill>
                  <a:srgbClr val="69738A"/>
                </a:solidFill>
              </a:rPr>
              <a:t>https://www.googleapis.com/auth/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C54EA-157F-4E49-99FB-715D5F97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5503C-F3A8-43D2-B383-B10F14A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338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88AF8-1BFA-42BD-9B91-385A0123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86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범위 추가 또는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ED840-5807-45FA-9285-7FDF1A92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데이터 액세스 메뉴에서 범위 선택 창을 엽니다.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FEE23-9D48-4B02-86E0-B5925FD4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D68"/>
          </a:solidFill>
          <a:ln xmlns:a="http://schemas.openxmlformats.org/drawingml/2006/main" w="0">
            <a:solidFill>
              <a:srgbClr val="2F9D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80796-C350-4B23-9B83-38EC23D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053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3C366-690D-48D4-A6BB-746431B1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범위 선택·저장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E41B3-55D7-43F1-B861-F49695CC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816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소유한 캘린더의 일정 조회·생성·변경·삭제 권한입니다.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92EA3-B138-44F2-BFFE-8106F84B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886450"/>
            <a:ext cx="2971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9525">
            <a:solidFill>
              <a:srgbClr val="F2B6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D39C2-DF54-4225-A312-952C16C8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007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9653A"/>
                </a:solidFill>
              </a:defRPr>
            </a:pPr>
            <a:r>
              <a:rPr sz="975" b="1" i="0">
                <a:solidFill>
                  <a:srgbClr val="59653A"/>
                </a:solidFill>
              </a:rPr>
              <a:t>최소 권한 원칙: 더 넓은 calendar 범위는 선택하지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DAA14-3CA8-4F61-88ED-E140A705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6E5EBC-586B-4F7A-9164-C8989E28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727182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47F81-0651-4041-B1F9-905E3BEB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8C5D0-F5DF-4A01-951F-2E0930B8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Google Cloud 설정 4/5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AD51D-9511-4FE3-B030-C115893A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웹 OAuth 클라이언트를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66850-16AF-432A-809A-34AC03C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웹 애플리케이션을 선택하고 승인된 JavaScript 원본에 주소만 입력합니다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6B4CF-6D23-46FF-AB95-FE2C65A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D41E2-5635-4093-BB96-80D7601B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7612B-4B38-4281-A03A-5AD3ABC4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486650" cy="4695825"/>
          </a:xfrm>
          <a:prstGeom xmlns:a="http://schemas.openxmlformats.org/drawingml/2006/main" prst="roundRect">
            <a:avLst>
              <a:gd name="adj" fmla="val 3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891e7470741f7"/>
          <a:stretch xmlns:a="http://schemas.openxmlformats.org/drawingml/2006/main"/>
        </p:blipFill>
        <p:spPr>
          <a:xfrm xmlns:a="http://schemas.openxmlformats.org/drawingml/2006/main">
            <a:off x="688873" y="1981200"/>
            <a:ext cx="7328105" cy="4543425"/>
          </a:xfrm>
          <a:prstGeom xmlns:a="http://schemas.openxmlformats.org/drawingml/2006/main" prst="roundRect">
            <a:avLst>
              <a:gd name="adj" fmla="val 251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0D3B0-E3B8-43AA-8609-63F44782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0">
            <a:solidFill>
              <a:srgbClr val="E8F5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D32C7-AC9D-48A7-B1BC-B5A8A269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71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9C375-DE61-4919-A17E-98571989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73248"/>
                </a:solidFill>
              </a:defRPr>
            </a:pPr>
            <a:r>
              <a:rPr sz="1200" b="1" i="0">
                <a:solidFill>
                  <a:srgbClr val="273248"/>
                </a:solidFill>
              </a:rPr>
              <a:t>https://t-ong.vercel.app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532A4-CE6B-44C4-AF23-B282C6BF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7F75F-BFBA-46CD-B16B-2B649FF7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CDF"/>
                </a:solidFill>
              </a:defRPr>
            </a:pPr>
            <a:r>
              <a:rPr sz="1050" b="1" i="0">
                <a:solidFill>
                  <a:srgbClr val="2D6CDF"/>
                </a:solidFill>
              </a:rPr>
              <a:t>로컬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B9968-6CDE-4486-BC87-64301D6C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65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73248"/>
                </a:solidFill>
              </a:defRPr>
            </a:pPr>
            <a:r>
              <a:rPr sz="1200" b="1" i="0">
                <a:solidFill>
                  <a:srgbClr val="273248"/>
                </a:solidFill>
              </a:rPr>
              <a:t>http://localhost:4321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B6E1D-9140-4D26-AB16-2BD3152B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95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6F0B7-5215-4E60-8154-CD51FF01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원본(origin) 규칙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28CAD-EF64-45BE-ACDE-88F32687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프로토콜 + 호스트 + 포트만</a:t>
            </a:r>
          </a:p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경로·쿼리·와일드카드는 입력하지 않음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3B530-4DDF-48FA-BAD7-BE490E03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28956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CE9E8"/>
          </a:solidFill>
          <a:ln xmlns:a="http://schemas.openxmlformats.org/drawingml/2006/main" w="9525">
            <a:solidFill>
              <a:srgbClr val="C74A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618F6-04AE-4086-B0A8-CB7B753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05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4A45"/>
                </a:solidFill>
              </a:defRPr>
            </a:pPr>
            <a:r>
              <a:rPr sz="1500" b="1" i="0">
                <a:solidFill>
                  <a:srgbClr val="C74A45"/>
                </a:solidFill>
              </a:rPr>
              <a:t>추가하지 않습니다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9E5DC-7CE3-476E-AA55-C73EDBF8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054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73248"/>
                </a:solidFill>
              </a:defRPr>
            </a:pPr>
            <a:r>
              <a:rPr sz="1200" b="0" i="0">
                <a:solidFill>
                  <a:srgbClr val="273248"/>
                </a:solidFill>
              </a:rPr>
              <a:t>✕ https://seattong.vercel.app</a:t>
            </a:r>
          </a:p>
          <a:p xmlns:a="http://schemas.openxmlformats.org/drawingml/2006/main">
            <a:pPr algn="l">
              <a:defRPr sz="1200" b="0" i="0">
                <a:solidFill>
                  <a:srgbClr val="273248"/>
                </a:solidFill>
              </a:defRPr>
            </a:pPr>
            <a:r>
              <a:rPr sz="1200" b="0" i="0">
                <a:solidFill>
                  <a:srgbClr val="273248"/>
                </a:solidFill>
              </a:rPr>
              <a:t>✕ http://192.168.x.x:4321</a:t>
            </a:r>
          </a:p>
          <a:p xmlns:a="http://schemas.openxmlformats.org/drawingml/2006/main">
            <a:pPr algn="l">
              <a:defRPr sz="1200" b="0" i="0">
                <a:solidFill>
                  <a:srgbClr val="273248"/>
                </a:solidFill>
              </a:defRPr>
            </a:pPr>
            <a:r>
              <a:rPr sz="1200" b="0" i="0">
                <a:solidFill>
                  <a:srgbClr val="273248"/>
                </a:solidFill>
              </a:rPr>
              <a:t>✕ /calendar 같은 경로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A6589-912A-45B8-8B5D-5154E0F1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2DC06-3B6D-41C9-89D4-2EE386E1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1509843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95F94-4C8E-4656-8945-C41FB91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5C41D-02C7-4939-B463-1A8622A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Google Cloud 설정 5/5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7DFBE-4377-4D5C-AE91-DF4094A7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클라이언트 ID만 T-ong에 저장합니다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EC3DE-45E6-4FD5-9364-A88E182A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생성 완료 화면에서 ID를 복사하고 T-ong의 앱 관리자 설정에 붙여넣습니다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2D7A8-4A41-473C-AA56-59985D22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2881C-EC9D-4469-A97D-D6CF33CE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33367-040E-4DC3-A934-255C4909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486650" cy="4695825"/>
          </a:xfrm>
          <a:prstGeom xmlns:a="http://schemas.openxmlformats.org/drawingml/2006/main" prst="roundRect">
            <a:avLst>
              <a:gd name="adj" fmla="val 3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5d5fd430f415b"/>
          <a:stretch xmlns:a="http://schemas.openxmlformats.org/drawingml/2006/main"/>
        </p:blipFill>
        <p:spPr>
          <a:xfrm xmlns:a="http://schemas.openxmlformats.org/drawingml/2006/main">
            <a:off x="688873" y="1981200"/>
            <a:ext cx="7328105" cy="4543425"/>
          </a:xfrm>
          <a:prstGeom xmlns:a="http://schemas.openxmlformats.org/drawingml/2006/main" prst="roundRect">
            <a:avLst>
              <a:gd name="adj" fmla="val 251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3C24E-5062-459A-936A-DD77973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B140B-B48F-461D-9FBB-6CC0712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24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27D30-D125-444A-89F5-FB4211B0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클라이언트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A9096-A414-4BB3-BB49-6FD39811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Google Auth Platform › 클라이언트에서 웹 클라이언트를 만듭니다.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41C3F-6F4C-495E-B088-92CC1E4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A6859-E72E-4A1F-A5B0-E24EF905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337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C5B2D-E290-475F-A7DC-12FC61BD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ID 복사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9B201-03EA-49FE-96AA-9D6BB743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99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…apps.googleusercontent.com 형식의 클라이언트 ID를 복사합니다.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69AC8-8393-48C1-9123-57CA8C7F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D68"/>
          </a:solidFill>
          <a:ln xmlns:a="http://schemas.openxmlformats.org/drawingml/2006/main" w="0">
            <a:solidFill>
              <a:srgbClr val="2F9D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51098-F15E-4B65-8E11-0D385352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38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5D553-5B68-423C-88E3-73C6D926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910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T-ong에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C4C18-0EDC-414B-BFF6-1C729728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148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일정관리 › Google 동기화 › 앱 관리자 설정에서 저장합니다.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B798B-9A2B-4F06-ACCC-05DA6C08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14950"/>
            <a:ext cx="2895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CE9E8"/>
          </a:solidFill>
          <a:ln xmlns:a="http://schemas.openxmlformats.org/drawingml/2006/main" w="9525">
            <a:solidFill>
              <a:srgbClr val="C74A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DD8DB-DB30-4F7D-BE8A-BC0ACC9D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24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74A45"/>
                </a:solidFill>
              </a:defRPr>
            </a:pPr>
            <a:r>
              <a:rPr sz="1425" b="1" i="0">
                <a:solidFill>
                  <a:srgbClr val="C74A45"/>
                </a:solidFill>
              </a:rPr>
              <a:t>Client Secret은 입력하거나</a:t>
            </a:r>
          </a:p>
          <a:p xmlns:a="http://schemas.openxmlformats.org/drawingml/2006/main">
            <a:pPr algn="ctr">
              <a:defRPr sz="1425" b="1" i="0">
                <a:solidFill>
                  <a:srgbClr val="C74A45"/>
                </a:solidFill>
              </a:defRPr>
            </a:pPr>
            <a:r>
              <a:rPr sz="1425" b="1" i="0">
                <a:solidFill>
                  <a:srgbClr val="C74A45"/>
                </a:solidFill>
              </a:rPr>
              <a:t>공유하지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94E72-3A3C-4D1D-9096-9DAC9CD5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6E63E-8BB4-4222-B191-E8369308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316245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F0730-83C2-4FB4-BEB7-407D8D5A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6E29D-D0B6-4C38-891F-4531A868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T-ong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B4DD5-1C64-4842-9524-52B33B7E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Google 계정을 연결하고 ‘연결됨’을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157BF-8EE8-4ACD-A944-91F3F719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현재 사용할 Google 계정을 선택하고 요청 권한을 승인합니다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B146A-0362-4E92-8AF4-253DBE17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88005-9DFA-4B63-9317-7D9FF575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DDCA6-359B-46B5-8099-244DA90E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77100" cy="4591050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70aaa9fc04b79"/>
          <a:stretch xmlns:a="http://schemas.openxmlformats.org/drawingml/2006/main"/>
        </p:blipFill>
        <p:spPr>
          <a:xfrm xmlns:a="http://schemas.openxmlformats.org/drawingml/2006/main">
            <a:off x="1870965" y="1924050"/>
            <a:ext cx="4754370" cy="4438650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1ACC3-6D13-4B58-B504-048B46A5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7601B-2464-42F7-B7F4-4810FF29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47AAB-41DB-4AA6-89B5-A65140E0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Google 동기화 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F7904-2246-4A85-AD04-9D8D94F1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일정관리 화면 위쪽의 ‘Google 동기화’를 누릅니다.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9D63A-EFCF-4427-A04A-65DEBA67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05372-B62B-476D-8559-BC65D103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146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69E8F-58CF-4DB9-84FD-A6FF3278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Google 계정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A39F3-A4E5-420A-9C87-5C844D37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909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등록한 테스트 사용자 계정을 선택하고 권한을 승인합니다.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24E30-607A-447B-B816-F7D7DAFC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D68"/>
          </a:solidFill>
          <a:ln xmlns:a="http://schemas.openxmlformats.org/drawingml/2006/main" w="0">
            <a:solidFill>
              <a:srgbClr val="2F9D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37A29-2AAF-457A-BDA0-1FC6EE2E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433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8520-040E-4872-9052-4246EB6F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3248"/>
                </a:solidFill>
              </a:defRPr>
            </a:pPr>
            <a:r>
              <a:rPr sz="1500" b="1" i="0">
                <a:solidFill>
                  <a:srgbClr val="273248"/>
                </a:solidFill>
              </a:rPr>
              <a:t>연결됨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B4AD1-6123-4688-B85C-2F711D0C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9738A"/>
                </a:solidFill>
              </a:defRPr>
            </a:pPr>
            <a:r>
              <a:rPr sz="1200" b="0" i="0">
                <a:solidFill>
                  <a:srgbClr val="69738A"/>
                </a:solidFill>
              </a:rPr>
              <a:t>상태 배지와 본문에 ‘연결됨’이 보이는지 확인합니다.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1F969-6091-46C0-9710-8B510B47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57800"/>
            <a:ext cx="3048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9525">
            <a:solidFill>
              <a:srgbClr val="F2B6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641C3-ED30-45FE-9E76-FA1879A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673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9653A"/>
                </a:solidFill>
              </a:defRPr>
            </a:pPr>
            <a:r>
              <a:rPr sz="1200" b="1" i="0">
                <a:solidFill>
                  <a:srgbClr val="59653A"/>
                </a:solidFill>
              </a:rPr>
              <a:t>‘연결됨’은 API 권한을 얻었다는 뜻입니다.</a:t>
            </a:r>
          </a:p>
          <a:p xmlns:a="http://schemas.openxmlformats.org/drawingml/2006/main">
            <a:pPr algn="ctr">
              <a:defRPr sz="1200" b="1" i="0">
                <a:solidFill>
                  <a:srgbClr val="59653A"/>
                </a:solidFill>
              </a:defRPr>
            </a:pPr>
            <a:r>
              <a:rPr sz="1200" b="1" i="0">
                <a:solidFill>
                  <a:srgbClr val="59653A"/>
                </a:solidFill>
              </a:rPr>
              <a:t>과거 일정 확인은 다음 단계에서 진행합니다.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0D7D8-90B3-4841-99F3-C94D23AA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2465E-6D9D-493A-81B7-9ACEC850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1241323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9788E0-9CB1-49BD-91B9-896A211C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D3A59-3C49-432F-93F6-F9E7A1D4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동작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3BDA8-19EB-4B85-9FB4-4F6162E3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더미 일정 2건으로 양방향을 시험합니다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DF726-3274-4D78-98AD-93EED00E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같은 달을 열어 둔 상태에서 각 방향을 한 번씩 확인하면 문제 위치를 빠르게 찾을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8D9CA-8DA3-4C88-82BF-5048D064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8D9FA-4FA1-4169-8467-DE75F804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8A509-4E5E-4436-9AEB-52D3E918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4577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5C371-A4C7-43DB-AB80-AC0E1B4B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057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0">
            <a:solidFill>
              <a:srgbClr val="E8F5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8E51D-ED57-4B9E-9FBB-DB9AB71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A · T-ong → Google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53F75-6D61-4734-974E-48896A4F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3752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73248"/>
                </a:solidFill>
              </a:defRPr>
            </a:pPr>
            <a:r>
              <a:rPr sz="1650" b="1" i="0">
                <a:solidFill>
                  <a:srgbClr val="273248"/>
                </a:solidFill>
              </a:rPr>
              <a:t>[테스트] T-ong→Google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36CA0-C9E5-4460-BE2E-C41B4277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3714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9738A"/>
                </a:solidFill>
              </a:defRPr>
            </a:pPr>
            <a:r>
              <a:rPr sz="1425" b="0" i="0">
                <a:solidFill>
                  <a:srgbClr val="69738A"/>
                </a:solidFill>
              </a:rPr>
              <a:t>1. T-ong에서 일정 1건 생성</a:t>
            </a:r>
          </a:p>
          <a:p xmlns:a="http://schemas.openxmlformats.org/drawingml/2006/main">
            <a:pPr algn="l">
              <a:defRPr sz="1425" b="0" i="0">
                <a:solidFill>
                  <a:srgbClr val="69738A"/>
                </a:solidFill>
              </a:defRPr>
            </a:pPr>
            <a:r>
              <a:rPr sz="1425" b="0" i="0">
                <a:solidFill>
                  <a:srgbClr val="69738A"/>
                </a:solidFill>
              </a:rPr>
              <a:t>2. 지금 양방향 동기화</a:t>
            </a:r>
          </a:p>
          <a:p xmlns:a="http://schemas.openxmlformats.org/drawingml/2006/main">
            <a:pPr algn="l">
              <a:defRPr sz="1425" b="0" i="0">
                <a:solidFill>
                  <a:srgbClr val="69738A"/>
                </a:solidFill>
              </a:defRPr>
            </a:pPr>
            <a:r>
              <a:rPr sz="1425" b="0" i="0">
                <a:solidFill>
                  <a:srgbClr val="69738A"/>
                </a:solidFill>
              </a:rPr>
              <a:t>3. Google Calendar 새로고침 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922A0-6AD7-4DFC-997A-A9D1B5AF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3714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9525">
            <a:solidFill>
              <a:srgbClr val="2F9D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6D143-8C1D-4165-9021-FBC8C92B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9107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9653A"/>
                </a:solidFill>
              </a:defRPr>
            </a:pPr>
            <a:r>
              <a:rPr sz="1125" b="1" i="0">
                <a:solidFill>
                  <a:srgbClr val="59653A"/>
                </a:solidFill>
              </a:rPr>
              <a:t>성공 기준: Google 기본 캘린더에 같은 일정이 보임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C19A7-4963-4037-9790-89C56888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38500"/>
            <a:ext cx="125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7E8B53"/>
                </a:solidFill>
              </a:defRPr>
            </a:pPr>
            <a:r>
              <a:rPr sz="4050" b="1" i="0">
                <a:solidFill>
                  <a:srgbClr val="7E8B53"/>
                </a:solidFill>
              </a:rPr>
              <a:t>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FCCE2-4BD3-4BC9-A4EE-5E1B823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576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calendarId = primary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D1412-9C05-464C-B499-488CE2CE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44577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BD482-3A1A-4A68-B45E-76E5E8C6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2057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6BAA1-B6DA-4ABF-9FF5-6B7E16F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CDF"/>
                </a:solidFill>
              </a:defRPr>
            </a:pPr>
            <a:r>
              <a:rPr sz="1050" b="1" i="0">
                <a:solidFill>
                  <a:srgbClr val="2D6CDF"/>
                </a:solidFill>
              </a:rPr>
              <a:t>B · Google → T-ong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FC5AD-E0F7-4A69-B85F-C46CFAC1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3752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73248"/>
                </a:solidFill>
              </a:defRPr>
            </a:pPr>
            <a:r>
              <a:rPr sz="1650" b="1" i="0">
                <a:solidFill>
                  <a:srgbClr val="273248"/>
                </a:solidFill>
              </a:rPr>
              <a:t>[테스트] Google→T-ong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68731-1E85-4CDE-BA5A-AE7A8661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3714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9738A"/>
                </a:solidFill>
              </a:defRPr>
            </a:pPr>
            <a:r>
              <a:rPr sz="1425" b="0" i="0">
                <a:solidFill>
                  <a:srgbClr val="69738A"/>
                </a:solidFill>
              </a:rPr>
              <a:t>1. Google ‘기본 캘린더’에 일정 1건 생성</a:t>
            </a:r>
          </a:p>
          <a:p xmlns:a="http://schemas.openxmlformats.org/drawingml/2006/main">
            <a:pPr algn="l">
              <a:defRPr sz="1425" b="0" i="0">
                <a:solidFill>
                  <a:srgbClr val="69738A"/>
                </a:solidFill>
              </a:defRPr>
            </a:pPr>
            <a:r>
              <a:rPr sz="1425" b="0" i="0">
                <a:solidFill>
                  <a:srgbClr val="69738A"/>
                </a:solidFill>
              </a:rPr>
              <a:t>2. T-ong으로 돌아와 지금 양방향 동기화</a:t>
            </a:r>
          </a:p>
          <a:p xmlns:a="http://schemas.openxmlformats.org/drawingml/2006/main">
            <a:pPr algn="l">
              <a:defRPr sz="1425" b="0" i="0">
                <a:solidFill>
                  <a:srgbClr val="69738A"/>
                </a:solidFill>
              </a:defRPr>
            </a:pPr>
            <a:r>
              <a:rPr sz="1425" b="0" i="0">
                <a:solidFill>
                  <a:srgbClr val="69738A"/>
                </a:solidFill>
              </a:rPr>
              <a:t>3. 같은 달에서 일정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B8857-FCF5-4EC1-80E7-9F395797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86300"/>
            <a:ext cx="3714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D6C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8054E-00D7-4660-BACE-E358A196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9107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D6CDF"/>
                </a:solidFill>
              </a:defRPr>
            </a:pPr>
            <a:r>
              <a:rPr sz="1125" b="1" i="0">
                <a:solidFill>
                  <a:srgbClr val="2D6CDF"/>
                </a:solidFill>
              </a:rPr>
              <a:t>성공 기준: T-ong 일정에 같은 일정이 보임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E1A19-7C56-4D53-8ECB-0E63D30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9525">
            <a:solidFill>
              <a:srgbClr val="F2B6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3D467-F343-4B62-982A-C7E3EBFF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9653A"/>
                </a:solidFill>
              </a:defRPr>
            </a:pPr>
            <a:r>
              <a:rPr sz="1275" b="1" i="0">
                <a:solidFill>
                  <a:srgbClr val="59653A"/>
                </a:solidFill>
              </a:rPr>
              <a:t>시험이 끝나면 두 테스트 일정을 삭제합니다. 학생 이름·상담 내용·메모는 시험 제목에 넣지 않습니다.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92AE9-772F-4024-A04C-AF0E3B2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1521C-A06C-4082-9B0F-319676B7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1150938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5D0BC9-CDEB-42F7-87A0-C0EC22C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D9B5B-D16B-4339-868B-85F92476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누락 일정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D8DF3-BB9B-479D-B62A-43F89358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Google 일정이 안 보이면 ‘전체 다시 가져오기’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1F874-813C-4E15-B89A-0B6CC362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평소에는 지금 양방향 동기화, 누락된 Google 일정이 있을 때만 전체 재확인을 사용합니다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F148C-BD81-4A70-B719-DCD021BE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47AFB-746A-43DC-BADB-D66B55DA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8343E-B065-417B-B4DD-9BF03D1F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19950" cy="2867025"/>
          </a:xfrm>
          <a:prstGeom xmlns:a="http://schemas.openxmlformats.org/drawingml/2006/main" prst="roundRect">
            <a:avLst>
              <a:gd name="adj" fmla="val 5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b44d563364dbf"/>
          <a:stretch xmlns:a="http://schemas.openxmlformats.org/drawingml/2006/main"/>
        </p:blipFill>
        <p:spPr>
          <a:xfrm xmlns:a="http://schemas.openxmlformats.org/drawingml/2006/main">
            <a:off x="685800" y="1983779"/>
            <a:ext cx="7067550" cy="2709466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D11EE-3949-4637-812D-720C40C9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813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E558B-9E24-43AE-8391-6C5AFBA0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3248"/>
                </a:solidFill>
              </a:defRPr>
            </a:pPr>
            <a:r>
              <a:rPr sz="1725" b="1" i="0">
                <a:solidFill>
                  <a:srgbClr val="273248"/>
                </a:solidFill>
              </a:rPr>
              <a:t>이럴 때 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7FBD5-22FF-4E36-B00D-A10DBD0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• Google에서 직접 만든 일정이 안 보임</a:t>
            </a:r>
          </a:p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• 같은 계정·같은 달인데 일부만 빠짐</a:t>
            </a:r>
          </a:p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• 오래된 동기화 토큰 이후 누락 의심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07575-2C11-4E75-95AD-1AD49CD5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81450"/>
            <a:ext cx="27241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9525">
            <a:solidFill>
              <a:srgbClr val="2F9D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E4D75-7F49-4BDB-8527-7C3122AC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052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기존 T-ong 일정을 일괄 삭제하지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19D8C-B61C-481B-8799-782D679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3248"/>
                </a:solidFill>
              </a:defRPr>
            </a:pPr>
            <a:r>
              <a:rPr sz="1725" b="1" i="0">
                <a:solidFill>
                  <a:srgbClr val="273248"/>
                </a:solidFill>
              </a:rPr>
              <a:t>그래도 안 보이면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F972B-3B2D-4E92-A2E3-49495187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2400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0E65D-F7D7-42E4-9599-4835D6D2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73248"/>
                </a:solidFill>
              </a:defRPr>
            </a:pPr>
            <a:r>
              <a:rPr sz="1275" b="1" i="0">
                <a:solidFill>
                  <a:srgbClr val="273248"/>
                </a:solidFill>
              </a:rPr>
              <a:t>1. 같은 Google 계정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FAF50-7E35-49C3-A2E7-EDDE99F8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2400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06973-FEAC-44EF-A655-E4D3B40B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3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73248"/>
                </a:solidFill>
              </a:defRPr>
            </a:pPr>
            <a:r>
              <a:rPr sz="1275" b="1" i="0">
                <a:solidFill>
                  <a:srgbClr val="273248"/>
                </a:solidFill>
              </a:rPr>
              <a:t>2. 기본(primary) 캘린더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20430-656C-4EBC-B6D8-CAD9806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67350"/>
            <a:ext cx="2400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44579-503D-4DBC-9CD1-84F41F3E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3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73248"/>
                </a:solidFill>
              </a:defRPr>
            </a:pPr>
            <a:r>
              <a:rPr sz="1275" b="1" i="0">
                <a:solidFill>
                  <a:srgbClr val="273248"/>
                </a:solidFill>
              </a:rPr>
              <a:t>3. 앱 버전 .62 이상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382EB3-6CCD-405C-8335-418494E9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67350"/>
            <a:ext cx="2400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D6C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E06D8-E0DC-4255-9385-23D9D921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3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6CDF"/>
                </a:solidFill>
              </a:defRPr>
            </a:pPr>
            <a:r>
              <a:rPr sz="1275" b="1" i="0">
                <a:solidFill>
                  <a:srgbClr val="2D6CDF"/>
                </a:solidFill>
              </a:rPr>
              <a:t>4. 연결 해제 후 재연결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1C62D-D968-4478-9220-2ADF77AB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C74A45"/>
                </a:solidFill>
              </a:defRPr>
            </a:pPr>
            <a:r>
              <a:rPr sz="1050" b="0" i="0">
                <a:solidFill>
                  <a:srgbClr val="C74A45"/>
                </a:solidFill>
              </a:rPr>
              <a:t>대상 아님: 구독 공휴일 · 공유/보조 캘린더 · 예전 별도 ‘T-ong 일정’ 캘린더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47AD1-1CD2-45B1-AC93-CCD9C516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Google Calendar 동기화 안내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BC1D2-8AD5-4FD4-A931-5E55C4AE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14579096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F17169-A63E-4DDD-8EBF-C5CA28BB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B53"/>
          </a:solidFill>
          <a:ln xmlns:a="http://schemas.openxmlformats.org/drawingml/2006/main" w="0">
            <a:solidFill>
              <a:srgbClr val="7E8B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E17BD-04F4-47E3-B3F9-0A41037F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53A"/>
                </a:solidFill>
              </a:defRPr>
            </a:pPr>
            <a:r>
              <a:rPr sz="1050" b="1" i="0">
                <a:solidFill>
                  <a:srgbClr val="59653A"/>
                </a:solidFill>
              </a:rPr>
              <a:t>빠른 문제 해결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9AE0A-B677-4377-9FCF-9FA56B0B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3248"/>
                </a:solidFill>
              </a:defRPr>
            </a:pPr>
            <a:r>
              <a:rPr sz="2700" b="1" i="0">
                <a:solidFill>
                  <a:srgbClr val="273248"/>
                </a:solidFill>
              </a:rPr>
              <a:t>증상별로 이 순서만 확인하세요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36806-FAA4-4DE0-A1F1-D1D2763F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9738A"/>
                </a:solidFill>
              </a:defRPr>
            </a:pPr>
            <a:r>
              <a:rPr sz="1350" b="0" i="0">
                <a:solidFill>
                  <a:srgbClr val="69738A"/>
                </a:solidFill>
              </a:rPr>
              <a:t>오류 문구는 원인 범위를 빠르게 좁혀 줍니다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5B638-1958-4216-A489-CBD74AE7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9738A"/>
                </a:solidFill>
              </a:defRPr>
            </a:pPr>
            <a:r>
              <a:rPr sz="1050" b="1" i="0">
                <a:solidFill>
                  <a:srgbClr val="69738A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4EEDB-E953-471C-946F-A61404B9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CF"/>
          </a:solidFill>
          <a:ln xmlns:a="http://schemas.openxmlformats.org/drawingml/2006/main" w="0">
            <a:solidFill>
              <a:srgbClr val="D8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0EC42-6643-4F24-A200-5C186818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248"/>
          </a:solidFill>
          <a:ln xmlns:a="http://schemas.openxmlformats.org/drawingml/2006/main" w="0">
            <a:solidFill>
              <a:srgbClr val="27324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80B90-A9CE-4128-A241-C343D690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화면에 보이는 증상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D2A62-D73B-4D6C-88F1-B8FA99D4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2838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248"/>
          </a:solidFill>
          <a:ln xmlns:a="http://schemas.openxmlformats.org/drawingml/2006/main" w="0">
            <a:solidFill>
              <a:srgbClr val="2732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8D963-9595-43C1-8D07-3669CDD0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가능한 원인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01C2E-A9A9-4036-B747-05EECC29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502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248"/>
          </a:solidFill>
          <a:ln xmlns:a="http://schemas.openxmlformats.org/drawingml/2006/main" w="0">
            <a:solidFill>
              <a:srgbClr val="2732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461AD-B88A-404E-B902-26AE1EF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해결 순서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DD40A-8180-4581-9F2B-E218A384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69B17-A53A-465B-BFBD-9F9CC2A3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CDF"/>
                </a:solidFill>
              </a:defRPr>
            </a:pPr>
            <a:r>
              <a:rPr sz="1200" b="1" i="0">
                <a:solidFill>
                  <a:srgbClr val="2D6CDF"/>
                </a:solidFill>
              </a:rPr>
              <a:t>origin_mismatch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5FAEC-F3FE-447F-9CD1-0C4E9681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9B3AE-856C-45E9-A2B7-A29E6953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384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승인된 JavaScript 원본 불일치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AA3F8-5C5D-46DB-A05A-0F8ADE5A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502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E0A48-66DA-4F14-96D1-55FF24F2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384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https://t-ong.vercel.app 정확히 입력 · 경로 제거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C3F8B-41C6-441F-8E27-EA770BC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EA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06D24-16E4-4874-BC81-3A34CFB0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CDF"/>
                </a:solidFill>
              </a:defRPr>
            </a:pPr>
            <a:r>
              <a:rPr sz="1200" b="1" i="0">
                <a:solidFill>
                  <a:srgbClr val="2D6CDF"/>
                </a:solidFill>
              </a:rPr>
              <a:t>access_denied / 앱 차단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5C741-E3D8-47B0-BF0A-B3BB2476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EA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51594-D621-45ED-AC7E-029CCD6F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051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테스트 사용자 또는 학교 정책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C915D-5DFC-4AB4-B523-956CDCEF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502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EA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070C0-384A-4ACC-B5EE-F56A878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051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테스트 사용자·scope 저장·Workspace 관리자 정책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D257B-51BB-48BE-A8A2-CECB3EE5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9B05C-BE3B-443D-9E4D-5EBA5126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CDF"/>
                </a:solidFill>
              </a:defRPr>
            </a:pPr>
            <a:r>
              <a:rPr sz="1200" b="1" i="0">
                <a:solidFill>
                  <a:srgbClr val="2D6CDF"/>
                </a:solidFill>
              </a:rPr>
              <a:t>연결됐지만 Google→T-ong 누락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44DFE-B2FF-423D-BD0B-C66AE515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FC88D-7246-4B75-9499-601B7276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719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계정·primary·증분 토큰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8E9A79-81C2-421B-B67A-D86CB4A3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502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42D3A-0E41-435D-8E3F-99BEFB4D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719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같은 계정 확인 → 전체 다시 가져오기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250664-073C-40C5-9ED9-E247C835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EA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28D4C6-1FDA-4626-83AA-639A40CE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CDF"/>
                </a:solidFill>
              </a:defRPr>
            </a:pPr>
            <a:r>
              <a:rPr sz="1200" b="1" i="0">
                <a:solidFill>
                  <a:srgbClr val="2D6CDF"/>
                </a:solidFill>
              </a:rPr>
              <a:t>팝업이 보이지 않음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E4E74C-B8F5-46A9-BA71-BFABEA01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14850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EA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A7279D-B732-4240-83AD-4F2A6F0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386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브라우저 팝업 차단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9190C0-F86C-414C-BEAF-7199E4B9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02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EA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F648C5-D86A-4620-BB39-9C983576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일반 Chrome에서 팝업 허용 후 다시 연결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5566A2-7BFB-4533-9E54-6188CDC2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949BCD-77C4-427E-A019-28F4AC1E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CDF"/>
                </a:solidFill>
              </a:defRPr>
            </a:pPr>
            <a:r>
              <a:rPr sz="1200" b="1" i="0">
                <a:solidFill>
                  <a:srgbClr val="2D6CDF"/>
                </a:solidFill>
              </a:rPr>
              <a:t>태블릿에서 재접속 요구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D14587-B8BA-42E7-955A-169495C0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81600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DCE36-9187-4B9F-9393-FE89DA88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054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토큰 만료 또는 오래된 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F56D6D-2447-499D-8DEC-CB1A436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81600"/>
            <a:ext cx="5029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EC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DEBAAB-2A41-432E-B165-EFD93ED4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054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3248"/>
                </a:solidFill>
              </a:defRPr>
            </a:pPr>
            <a:r>
              <a:rPr sz="1125" b="0" i="0">
                <a:solidFill>
                  <a:srgbClr val="273248"/>
                </a:solidFill>
              </a:rPr>
              <a:t>앱 완전 종료·재실행 → Google 동기화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C5E806-900C-4D9D-BC02-E42346EB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CE9E8"/>
          </a:solidFill>
          <a:ln xmlns:a="http://schemas.openxmlformats.org/drawingml/2006/main" w="9525">
            <a:solidFill>
              <a:srgbClr val="C74A4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7DDC53-E772-49BC-AA84-55B728C4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055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74A45"/>
                </a:solidFill>
              </a:defRPr>
            </a:pPr>
            <a:r>
              <a:rPr sz="1125" b="1" i="0">
                <a:solidFill>
                  <a:srgbClr val="C74A45"/>
                </a:solidFill>
              </a:rPr>
              <a:t>마지막 보안 확인 · Client Secret·API Key·Access Token은 공유하지 않고, 제출용 캡처의 ID·이메일은 가립니다.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0C609A-EC2B-450C-82AB-9669D6DE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T-ong 교무수첩 · 문의 전 이 표를 캡처해 두세요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C3B7E1-B83E-4C91-BFC9-CE8292AF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9738A"/>
                </a:solidFill>
              </a:defRPr>
            </a:pPr>
            <a:r>
              <a:rPr sz="825" b="0" i="0">
                <a:solidFill>
                  <a:srgbClr val="69738A"/>
                </a:solidFill>
              </a:rPr>
              <a:t>v5.17.0-preview.62 · 2026.09</a:t>
            </a:r>
          </a:p>
        </p:txBody>
      </p:sp>
    </p:spTree>
    <p:extLst>
      <p:ext uri="{BB962C8B-B14F-4D97-AF65-F5344CB8AC3E}">
        <p14:creationId xmlns:p14="http://schemas.microsoft.com/office/powerpoint/2010/main" val="1778810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2026-09-01T11:01:32.9230000Z</dcterms:created>
  <dcterms:modified xsi:type="dcterms:W3CDTF">2026-09-01T11:01:32.9230000Z</dcterms:modified>
</coreProperties>
</file>